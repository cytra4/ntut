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314" r:id="rId3"/>
    <p:sldId id="315" r:id="rId4"/>
    <p:sldId id="329" r:id="rId5"/>
    <p:sldId id="271" r:id="rId6"/>
    <p:sldId id="316" r:id="rId7"/>
    <p:sldId id="274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28" r:id="rId18"/>
    <p:sldId id="286" r:id="rId19"/>
    <p:sldId id="303" r:id="rId20"/>
    <p:sldId id="312" r:id="rId21"/>
    <p:sldId id="31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59" autoAdjust="0"/>
    <p:restoredTop sz="95441" autoAdjust="0"/>
  </p:normalViewPr>
  <p:slideViewPr>
    <p:cSldViewPr>
      <p:cViewPr varScale="1">
        <p:scale>
          <a:sx n="96" d="100"/>
          <a:sy n="96" d="100"/>
        </p:scale>
        <p:origin x="202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nn Cheng" userId="cca717b1c87cbd4e" providerId="LiveId" clId="{4834C107-7256-5949-88C9-40D508D98068}"/>
    <pc:docChg chg="custSel modSld">
      <pc:chgData name="Shonn Cheng" userId="cca717b1c87cbd4e" providerId="LiveId" clId="{4834C107-7256-5949-88C9-40D508D98068}" dt="2025-02-23T02:20:12.459" v="40" actId="478"/>
      <pc:docMkLst>
        <pc:docMk/>
      </pc:docMkLst>
      <pc:sldChg chg="modSp mod">
        <pc:chgData name="Shonn Cheng" userId="cca717b1c87cbd4e" providerId="LiveId" clId="{4834C107-7256-5949-88C9-40D508D98068}" dt="2025-02-23T02:19:24.468" v="32" actId="20577"/>
        <pc:sldMkLst>
          <pc:docMk/>
          <pc:sldMk cId="0" sldId="256"/>
        </pc:sldMkLst>
        <pc:spChg chg="mod">
          <ac:chgData name="Shonn Cheng" userId="cca717b1c87cbd4e" providerId="LiveId" clId="{4834C107-7256-5949-88C9-40D508D98068}" dt="2025-02-23T02:19:24.468" v="32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Shonn Cheng" userId="cca717b1c87cbd4e" providerId="LiveId" clId="{4834C107-7256-5949-88C9-40D508D98068}" dt="2025-02-23T02:19:17.878" v="30" actId="21"/>
          <ac:spMkLst>
            <pc:docMk/>
            <pc:sldMk cId="0" sldId="256"/>
            <ac:spMk id="10" creationId="{00000000-0000-0000-0000-000000000000}"/>
          </ac:spMkLst>
        </pc:spChg>
      </pc:sldChg>
      <pc:sldChg chg="delSp mod">
        <pc:chgData name="Shonn Cheng" userId="cca717b1c87cbd4e" providerId="LiveId" clId="{4834C107-7256-5949-88C9-40D508D98068}" dt="2025-02-23T02:19:45.240" v="33" actId="478"/>
        <pc:sldMkLst>
          <pc:docMk/>
          <pc:sldMk cId="0" sldId="271"/>
        </pc:sldMkLst>
        <pc:inkChg chg="del">
          <ac:chgData name="Shonn Cheng" userId="cca717b1c87cbd4e" providerId="LiveId" clId="{4834C107-7256-5949-88C9-40D508D98068}" dt="2025-02-23T02:19:45.240" v="33" actId="478"/>
          <ac:inkMkLst>
            <pc:docMk/>
            <pc:sldMk cId="0" sldId="271"/>
            <ac:inkMk id="4" creationId="{00000000-0000-0000-0000-000000000000}"/>
          </ac:inkMkLst>
        </pc:inkChg>
      </pc:sldChg>
      <pc:sldChg chg="delSp mod">
        <pc:chgData name="Shonn Cheng" userId="cca717b1c87cbd4e" providerId="LiveId" clId="{4834C107-7256-5949-88C9-40D508D98068}" dt="2025-02-23T02:19:53.012" v="35" actId="478"/>
        <pc:sldMkLst>
          <pc:docMk/>
          <pc:sldMk cId="0" sldId="274"/>
        </pc:sldMkLst>
        <pc:inkChg chg="del">
          <ac:chgData name="Shonn Cheng" userId="cca717b1c87cbd4e" providerId="LiveId" clId="{4834C107-7256-5949-88C9-40D508D98068}" dt="2025-02-23T02:19:53.012" v="35" actId="478"/>
          <ac:inkMkLst>
            <pc:docMk/>
            <pc:sldMk cId="0" sldId="274"/>
            <ac:inkMk id="4" creationId="{00000000-0000-0000-0000-000000000000}"/>
          </ac:inkMkLst>
        </pc:inkChg>
      </pc:sldChg>
      <pc:sldChg chg="delSp mod">
        <pc:chgData name="Shonn Cheng" userId="cca717b1c87cbd4e" providerId="LiveId" clId="{4834C107-7256-5949-88C9-40D508D98068}" dt="2025-02-23T02:20:10.384" v="39" actId="478"/>
        <pc:sldMkLst>
          <pc:docMk/>
          <pc:sldMk cId="0" sldId="286"/>
        </pc:sldMkLst>
        <pc:inkChg chg="del">
          <ac:chgData name="Shonn Cheng" userId="cca717b1c87cbd4e" providerId="LiveId" clId="{4834C107-7256-5949-88C9-40D508D98068}" dt="2025-02-23T02:20:10.384" v="39" actId="478"/>
          <ac:inkMkLst>
            <pc:docMk/>
            <pc:sldMk cId="0" sldId="286"/>
            <ac:inkMk id="5" creationId="{00000000-0000-0000-0000-000000000000}"/>
          </ac:inkMkLst>
        </pc:inkChg>
      </pc:sldChg>
      <pc:sldChg chg="delSp mod">
        <pc:chgData name="Shonn Cheng" userId="cca717b1c87cbd4e" providerId="LiveId" clId="{4834C107-7256-5949-88C9-40D508D98068}" dt="2025-02-23T02:20:12.459" v="40" actId="478"/>
        <pc:sldMkLst>
          <pc:docMk/>
          <pc:sldMk cId="378999968" sldId="303"/>
        </pc:sldMkLst>
        <pc:inkChg chg="del">
          <ac:chgData name="Shonn Cheng" userId="cca717b1c87cbd4e" providerId="LiveId" clId="{4834C107-7256-5949-88C9-40D508D98068}" dt="2025-02-23T02:20:12.459" v="40" actId="478"/>
          <ac:inkMkLst>
            <pc:docMk/>
            <pc:sldMk cId="378999968" sldId="303"/>
            <ac:inkMk id="2" creationId="{00000000-0000-0000-0000-000000000000}"/>
          </ac:inkMkLst>
        </pc:inkChg>
      </pc:sldChg>
      <pc:sldChg chg="delSp mod">
        <pc:chgData name="Shonn Cheng" userId="cca717b1c87cbd4e" providerId="LiveId" clId="{4834C107-7256-5949-88C9-40D508D98068}" dt="2025-02-23T02:19:49.303" v="34" actId="478"/>
        <pc:sldMkLst>
          <pc:docMk/>
          <pc:sldMk cId="0" sldId="316"/>
        </pc:sldMkLst>
        <pc:inkChg chg="del">
          <ac:chgData name="Shonn Cheng" userId="cca717b1c87cbd4e" providerId="LiveId" clId="{4834C107-7256-5949-88C9-40D508D98068}" dt="2025-02-23T02:19:49.303" v="34" actId="478"/>
          <ac:inkMkLst>
            <pc:docMk/>
            <pc:sldMk cId="0" sldId="316"/>
            <ac:inkMk id="4" creationId="{00000000-0000-0000-0000-000000000000}"/>
          </ac:inkMkLst>
        </pc:inkChg>
      </pc:sldChg>
      <pc:sldChg chg="delSp mod">
        <pc:chgData name="Shonn Cheng" userId="cca717b1c87cbd4e" providerId="LiveId" clId="{4834C107-7256-5949-88C9-40D508D98068}" dt="2025-02-23T02:20:01.183" v="36" actId="478"/>
        <pc:sldMkLst>
          <pc:docMk/>
          <pc:sldMk cId="2789303193" sldId="336"/>
        </pc:sldMkLst>
        <pc:inkChg chg="del">
          <ac:chgData name="Shonn Cheng" userId="cca717b1c87cbd4e" providerId="LiveId" clId="{4834C107-7256-5949-88C9-40D508D98068}" dt="2025-02-23T02:20:01.183" v="36" actId="478"/>
          <ac:inkMkLst>
            <pc:docMk/>
            <pc:sldMk cId="2789303193" sldId="336"/>
            <ac:inkMk id="4" creationId="{00000000-0000-0000-0000-000000000000}"/>
          </ac:inkMkLst>
        </pc:inkChg>
      </pc:sldChg>
      <pc:sldChg chg="delSp mod">
        <pc:chgData name="Shonn Cheng" userId="cca717b1c87cbd4e" providerId="LiveId" clId="{4834C107-7256-5949-88C9-40D508D98068}" dt="2025-02-23T02:20:04.210" v="37" actId="478"/>
        <pc:sldMkLst>
          <pc:docMk/>
          <pc:sldMk cId="1244808017" sldId="337"/>
        </pc:sldMkLst>
        <pc:inkChg chg="del">
          <ac:chgData name="Shonn Cheng" userId="cca717b1c87cbd4e" providerId="LiveId" clId="{4834C107-7256-5949-88C9-40D508D98068}" dt="2025-02-23T02:20:04.210" v="37" actId="478"/>
          <ac:inkMkLst>
            <pc:docMk/>
            <pc:sldMk cId="1244808017" sldId="337"/>
            <ac:inkMk id="4" creationId="{00000000-0000-0000-0000-000000000000}"/>
          </ac:inkMkLst>
        </pc:inkChg>
      </pc:sldChg>
      <pc:sldChg chg="delSp mod">
        <pc:chgData name="Shonn Cheng" userId="cca717b1c87cbd4e" providerId="LiveId" clId="{4834C107-7256-5949-88C9-40D508D98068}" dt="2025-02-23T02:20:06.306" v="38" actId="478"/>
        <pc:sldMkLst>
          <pc:docMk/>
          <pc:sldMk cId="1405198242" sldId="338"/>
        </pc:sldMkLst>
        <pc:inkChg chg="del">
          <ac:chgData name="Shonn Cheng" userId="cca717b1c87cbd4e" providerId="LiveId" clId="{4834C107-7256-5949-88C9-40D508D98068}" dt="2025-02-23T02:20:06.306" v="38" actId="478"/>
          <ac:inkMkLst>
            <pc:docMk/>
            <pc:sldMk cId="1405198242" sldId="338"/>
            <ac:inkMk id="2" creationId="{00000000-0000-0000-0000-000000000000}"/>
          </ac:inkMkLst>
        </pc:inkChg>
      </pc:sldChg>
    </pc:docChg>
  </pc:docChgLst>
  <pc:docChgLst>
    <pc:chgData name="Shonn SLC" userId="cca717b1c87cbd4e" providerId="LiveId" clId="{65BD0061-904A-C349-ADDB-7622ADB788E8}"/>
    <pc:docChg chg="undo custSel delSld modSld">
      <pc:chgData name="Shonn SLC" userId="cca717b1c87cbd4e" providerId="LiveId" clId="{65BD0061-904A-C349-ADDB-7622ADB788E8}" dt="2021-01-16T21:22:41.698" v="43" actId="20577"/>
      <pc:docMkLst>
        <pc:docMk/>
      </pc:docMkLst>
      <pc:sldChg chg="modSp mod">
        <pc:chgData name="Shonn SLC" userId="cca717b1c87cbd4e" providerId="LiveId" clId="{65BD0061-904A-C349-ADDB-7622ADB788E8}" dt="2021-01-12T04:15:04.671" v="27" actId="20577"/>
        <pc:sldMkLst>
          <pc:docMk/>
          <pc:sldMk cId="0" sldId="256"/>
        </pc:sldMkLst>
      </pc:sldChg>
      <pc:sldChg chg="modSp mod">
        <pc:chgData name="Shonn SLC" userId="cca717b1c87cbd4e" providerId="LiveId" clId="{65BD0061-904A-C349-ADDB-7622ADB788E8}" dt="2021-01-16T21:17:16.559" v="31" actId="1076"/>
        <pc:sldMkLst>
          <pc:docMk/>
          <pc:sldMk cId="0" sldId="271"/>
        </pc:sldMkLst>
      </pc:sldChg>
      <pc:sldChg chg="del">
        <pc:chgData name="Shonn SLC" userId="cca717b1c87cbd4e" providerId="LiveId" clId="{65BD0061-904A-C349-ADDB-7622ADB788E8}" dt="2021-01-12T04:15:45.916" v="29" actId="2696"/>
        <pc:sldMkLst>
          <pc:docMk/>
          <pc:sldMk cId="0" sldId="309"/>
        </pc:sldMkLst>
      </pc:sldChg>
      <pc:sldChg chg="modNotesTx">
        <pc:chgData name="Shonn SLC" userId="cca717b1c87cbd4e" providerId="LiveId" clId="{65BD0061-904A-C349-ADDB-7622ADB788E8}" dt="2021-01-16T21:22:41.698" v="43" actId="20577"/>
        <pc:sldMkLst>
          <pc:docMk/>
          <pc:sldMk cId="2603372653" sldId="312"/>
        </pc:sldMkLst>
      </pc:sldChg>
      <pc:sldChg chg="modSp modAnim">
        <pc:chgData name="Shonn SLC" userId="cca717b1c87cbd4e" providerId="LiveId" clId="{65BD0061-904A-C349-ADDB-7622ADB788E8}" dt="2021-01-12T04:15:17.335" v="28" actId="20577"/>
        <pc:sldMkLst>
          <pc:docMk/>
          <pc:sldMk cId="0" sldId="3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624B1-C3B7-422D-B322-50B7EA8E4F47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4BD81-9D26-46D2-BBDB-CFF5D3E8EE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77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4BD81-9D26-46D2-BBDB-CFF5D3E8EEF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8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4BD81-9D26-46D2-BBDB-CFF5D3E8EEF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17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Caret: ^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4BD81-9D26-46D2-BBDB-CFF5D3E8EEF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41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A1D8175D-95BB-4C90-8F4E-5549917324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94696816-69E4-4993-9909-64AFC6F70872}" type="datetimeFigureOut">
              <a:rPr lang="en-US" smtClean="0"/>
              <a:pPr/>
              <a:t>2/23/25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621871"/>
            <a:ext cx="7543800" cy="2593975"/>
          </a:xfrm>
        </p:spPr>
        <p:txBody>
          <a:bodyPr/>
          <a:lstStyle/>
          <a:p>
            <a:pPr algn="ctr"/>
            <a:r>
              <a:rPr lang="en-US" sz="6000" dirty="0"/>
              <a:t>Welcome to </a:t>
            </a:r>
            <a:r>
              <a:rPr lang="en-US" sz="6000" dirty="0">
                <a:solidFill>
                  <a:schemeClr val="tx2"/>
                </a:solidFill>
              </a:rPr>
              <a:t>Statistics in Education</a:t>
            </a:r>
            <a:r>
              <a:rPr lang="en-US" sz="6000" dirty="0"/>
              <a:t>!</a:t>
            </a: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1066800" y="3505200"/>
            <a:ext cx="6461760" cy="1066800"/>
          </a:xfrm>
        </p:spPr>
        <p:txBody>
          <a:bodyPr>
            <a:normAutofit/>
          </a:bodyPr>
          <a:lstStyle/>
          <a:p>
            <a:pPr algn="ctr"/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219200"/>
            <a:ext cx="7543800" cy="1981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Review basic math procedures</a:t>
            </a:r>
          </a:p>
          <a:p>
            <a:r>
              <a:rPr lang="en-US" sz="2800" dirty="0"/>
              <a:t>Exercises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Math Review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4242856"/>
              </p:ext>
            </p:extLst>
          </p:nvPr>
        </p:nvGraphicFramePr>
        <p:xfrm>
          <a:off x="457200" y="1600200"/>
          <a:ext cx="7620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5+7=12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10-3=7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×, *, ( </a:t>
                      </a:r>
                      <a:r>
                        <a:rPr lang="en-US" baseline="0" dirty="0"/>
                        <a:t>  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Multiplication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2*6=12,</a:t>
                      </a:r>
                      <a:r>
                        <a:rPr lang="en-US" baseline="0" dirty="0"/>
                        <a:t> 9(10)=90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÷, 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15÷5=3, 8/4=2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6^2=36,</a:t>
                      </a:r>
                      <a:r>
                        <a:rPr lang="en-US" baseline="0" dirty="0"/>
                        <a:t> 2^3=8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8894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6207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Digits 0 to 4 = round down</a:t>
            </a:r>
          </a:p>
          <a:p>
            <a:r>
              <a:rPr lang="en-US" dirty="0"/>
              <a:t>Digits 5 to 9 = round up</a:t>
            </a:r>
          </a:p>
          <a:p>
            <a:r>
              <a:rPr lang="en-US" dirty="0"/>
              <a:t>Rounding to two decimal places (to nearest hundredth)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 1.34782 rounds to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425.39421 rounds to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70.99603 rounds to </a:t>
            </a:r>
          </a:p>
          <a:p>
            <a:r>
              <a:rPr lang="en-US" dirty="0"/>
              <a:t>Rounding to three decimal places (to nearest thousandth)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88.230585 rounds to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6.092667 rounds to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1545.8133062 rounds to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Proportions and Percentages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Proportions</a:t>
            </a:r>
          </a:p>
          <a:p>
            <a:pPr lvl="1"/>
            <a:r>
              <a:rPr lang="en-US" dirty="0"/>
              <a:t>Part of a whole number </a:t>
            </a:r>
          </a:p>
          <a:p>
            <a:pPr lvl="1"/>
            <a:r>
              <a:rPr lang="en-US" dirty="0"/>
              <a:t>Can be expressed as a fraction or decimal</a:t>
            </a:r>
          </a:p>
          <a:p>
            <a:pPr lvl="1"/>
            <a:r>
              <a:rPr lang="en-US" dirty="0"/>
              <a:t>Example: In a class of 40 students, 8 students earned As</a:t>
            </a:r>
          </a:p>
          <a:p>
            <a:pPr lvl="2"/>
            <a:r>
              <a:rPr lang="en-US" dirty="0"/>
              <a:t>Fraction: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Decimal:</a:t>
            </a:r>
          </a:p>
          <a:p>
            <a:pPr marL="777240" lvl="2" indent="0">
              <a:buNone/>
            </a:pPr>
            <a:endParaRPr lang="en-US" dirty="0"/>
          </a:p>
          <a:p>
            <a:r>
              <a:rPr lang="en-US" dirty="0"/>
              <a:t>Percentages</a:t>
            </a:r>
          </a:p>
          <a:p>
            <a:pPr lvl="1"/>
            <a:r>
              <a:rPr lang="en-US" dirty="0"/>
              <a:t>Multiply a decimal number by 100, then add the “%” sign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Proportions and Percentages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3200" dirty="0"/>
              <a:t>Practice</a:t>
            </a:r>
          </a:p>
          <a:p>
            <a:r>
              <a:rPr lang="en-US" dirty="0"/>
              <a:t>Convert 3/25 to a decimal proportion:</a:t>
            </a:r>
          </a:p>
          <a:p>
            <a:endParaRPr lang="en-US" dirty="0"/>
          </a:p>
          <a:p>
            <a:r>
              <a:rPr lang="en-US" dirty="0"/>
              <a:t>Convert 2/3 to a percentage:</a:t>
            </a:r>
          </a:p>
          <a:p>
            <a:endParaRPr lang="en-US" dirty="0"/>
          </a:p>
          <a:p>
            <a:r>
              <a:rPr lang="en-US" dirty="0"/>
              <a:t>Twenty-six out of 31 students completed the course. What proportion did not complete the course?</a:t>
            </a:r>
          </a:p>
          <a:p>
            <a:endParaRPr lang="en-US" dirty="0"/>
          </a:p>
          <a:p>
            <a:r>
              <a:rPr lang="en-US" dirty="0"/>
              <a:t>Four out of 48 students in a biology class had green eyes. What percentage of the students had green eyes?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Signed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4830763"/>
          </a:xfrm>
        </p:spPr>
        <p:txBody>
          <a:bodyPr>
            <a:normAutofit/>
          </a:bodyPr>
          <a:lstStyle/>
          <a:p>
            <a:r>
              <a:rPr lang="en-US" dirty="0"/>
              <a:t>Addition</a:t>
            </a:r>
          </a:p>
          <a:p>
            <a:pPr lvl="1"/>
            <a:r>
              <a:rPr lang="en-US" dirty="0"/>
              <a:t>When adding values that include both positive and negative numbers: </a:t>
            </a:r>
          </a:p>
          <a:p>
            <a:pPr marL="914400" lvl="1" indent="-514350">
              <a:buAutoNum type="arabicPeriod"/>
            </a:pPr>
            <a:r>
              <a:rPr lang="en-US" dirty="0"/>
              <a:t>Add all the positive numbers</a:t>
            </a:r>
          </a:p>
          <a:p>
            <a:pPr marL="914400" lvl="1" indent="-514350">
              <a:buAutoNum type="arabicPeriod"/>
            </a:pPr>
            <a:r>
              <a:rPr lang="en-US" dirty="0"/>
              <a:t>Add all the negative numbers</a:t>
            </a:r>
          </a:p>
          <a:p>
            <a:pPr marL="914400" lvl="1" indent="-514350">
              <a:buAutoNum type="arabicPeriod"/>
            </a:pPr>
            <a:r>
              <a:rPr lang="en-US" dirty="0"/>
              <a:t>Determine the difference between the two sums, using the sign of the larger number for the result.</a:t>
            </a:r>
          </a:p>
          <a:p>
            <a:pPr marL="914400" lvl="1" indent="-514350">
              <a:buNone/>
            </a:pPr>
            <a:r>
              <a:rPr lang="en-US" dirty="0"/>
              <a:t>(-6) + (-8) + (10) + (-7) + (5) + (-1) = 15 + (-22) = -7 </a:t>
            </a:r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Arial" pitchFamily="34" charset="0"/>
              <a:buChar char="•"/>
            </a:pPr>
            <a:r>
              <a:rPr lang="en-US" dirty="0"/>
              <a:t>When adding only negative values, add as if they are positive and then attach a negative sign in the result.</a:t>
            </a:r>
          </a:p>
          <a:p>
            <a:pPr marL="914400" lvl="1" indent="-514350">
              <a:buNone/>
            </a:pPr>
            <a:r>
              <a:rPr lang="en-US" dirty="0"/>
              <a:t>(-3) + (-17) + (-42) + (-18) + (-5) + (-21)  = -106</a:t>
            </a:r>
          </a:p>
        </p:txBody>
      </p:sp>
    </p:spTree>
    <p:extLst>
      <p:ext uri="{BB962C8B-B14F-4D97-AF65-F5344CB8AC3E}">
        <p14:creationId xmlns:p14="http://schemas.microsoft.com/office/powerpoint/2010/main" val="15816477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r>
              <a:rPr lang="en-US" dirty="0"/>
              <a:t>Subtraction</a:t>
            </a:r>
          </a:p>
          <a:p>
            <a:pPr lvl="1"/>
            <a:r>
              <a:rPr lang="en-US" dirty="0"/>
              <a:t>Change the sign of the value to be subtracted, and add (using above rules for addition)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(-14) – (-5) = -14 + 5 = -9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20 – (-4) = 20 + 4 = 24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52 – 73 = 52 + (-73) = -21</a:t>
            </a:r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3878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04800"/>
            <a:ext cx="6858000" cy="1143000"/>
          </a:xfrm>
        </p:spPr>
        <p:txBody>
          <a:bodyPr/>
          <a:lstStyle/>
          <a:p>
            <a:r>
              <a:rPr lang="en-US" dirty="0"/>
              <a:t>Law of  Signs</a:t>
            </a:r>
          </a:p>
        </p:txBody>
      </p:sp>
      <p:pic>
        <p:nvPicPr>
          <p:cNvPr id="2050" name="Picture 2" descr="Rules for multiplying &amp; dividing intege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1631792"/>
            <a:ext cx="3657600" cy="43118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531574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Multiplication</a:t>
                </a:r>
              </a:p>
              <a:p>
                <a:endParaRPr lang="en-US" dirty="0"/>
              </a:p>
              <a:p>
                <a:pPr lvl="1"/>
                <a:r>
                  <a:rPr lang="en-US" dirty="0"/>
                  <a:t>Multiplication will be indicated either by a times sign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 or two values beside each other in parentheses. If two values with the same sign are to be multiplied, the result will be positive.</a:t>
                </a:r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−12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−3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=36 </m:t>
                      </m:r>
                    </m:oMath>
                  </m:oMathPara>
                </a14:m>
                <a:endParaRPr lang="en-US" b="0" dirty="0">
                  <a:ea typeface="Cambria Math"/>
                </a:endParaRPr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−7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−7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=49</m:t>
                      </m:r>
                    </m:oMath>
                  </m:oMathPara>
                </a14:m>
                <a:endParaRPr lang="en-US" dirty="0"/>
              </a:p>
              <a:p>
                <a:pPr lvl="1">
                  <a:buNone/>
                </a:pPr>
                <a:endParaRPr lang="en-US" dirty="0"/>
              </a:p>
              <a:p>
                <a:pPr lvl="1">
                  <a:buFontTx/>
                  <a:buChar char="-"/>
                </a:pPr>
                <a:r>
                  <a:rPr lang="en-US" dirty="0"/>
                  <a:t>If two values with the opposite sign are to be multiplied together, the result will be negative.</a:t>
                </a:r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−7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7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49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4525963"/>
              </a:xfrm>
              <a:blipFill rotWithShape="1">
                <a:blip r:embed="rId3" cstate="print"/>
                <a:stretch>
                  <a:fillRect t="-809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986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533400" y="1143000"/>
            <a:ext cx="8229600" cy="4525963"/>
          </a:xfrm>
          <a:blipFill rotWithShape="1">
            <a:blip r:embed="rId2" cstate="print"/>
            <a:stretch>
              <a:fillRect l="-1704" t="-2830"/>
            </a:stretch>
          </a:blipFill>
        </p:spPr>
        <p:txBody>
          <a:bodyPr/>
          <a:lstStyle/>
          <a:p>
            <a:pPr marL="114300" indent="0">
              <a:buNone/>
            </a:pPr>
            <a:r>
              <a:rPr lang="en-US" dirty="0">
                <a:noFill/>
              </a:rPr>
              <a:t> 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0" y="5105400"/>
            <a:ext cx="76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48436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PEMDAS?</a:t>
            </a:r>
          </a:p>
          <a:p>
            <a:pPr lvl="1"/>
            <a:r>
              <a:rPr lang="en-US" dirty="0"/>
              <a:t>Parenthesis</a:t>
            </a:r>
          </a:p>
          <a:p>
            <a:pPr lvl="1"/>
            <a:r>
              <a:rPr lang="en-US" dirty="0"/>
              <a:t>Exponent</a:t>
            </a:r>
          </a:p>
          <a:p>
            <a:pPr lvl="1"/>
            <a:r>
              <a:rPr lang="en-US" dirty="0"/>
              <a:t>Multiplication</a:t>
            </a:r>
          </a:p>
          <a:p>
            <a:pPr lvl="1"/>
            <a:r>
              <a:rPr lang="en-US" dirty="0"/>
              <a:t>Division</a:t>
            </a:r>
          </a:p>
          <a:p>
            <a:pPr lvl="1"/>
            <a:r>
              <a:rPr lang="en-US" dirty="0"/>
              <a:t>Addition</a:t>
            </a:r>
          </a:p>
          <a:p>
            <a:pPr lvl="1"/>
            <a:r>
              <a:rPr lang="en-US" dirty="0"/>
              <a:t>Subtraction</a:t>
            </a:r>
          </a:p>
        </p:txBody>
      </p:sp>
    </p:spTree>
    <p:extLst>
      <p:ext uri="{BB962C8B-B14F-4D97-AF65-F5344CB8AC3E}">
        <p14:creationId xmlns:p14="http://schemas.microsoft.com/office/powerpoint/2010/main" val="42405383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(PEMDAS)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 all values that are in parenthesis first</a:t>
            </a:r>
          </a:p>
          <a:p>
            <a:r>
              <a:rPr lang="en-US" dirty="0"/>
              <a:t>Brackets and parentheses may be used interchangeably </a:t>
            </a:r>
          </a:p>
          <a:p>
            <a:pPr lvl="1"/>
            <a:r>
              <a:rPr lang="en-US" dirty="0"/>
              <a:t>Parenthesis may also be nested inside brackets. </a:t>
            </a:r>
          </a:p>
          <a:p>
            <a:pPr lvl="1"/>
            <a:r>
              <a:rPr lang="en-US" dirty="0"/>
              <a:t>If this kind of nesting occurs, compute values in the innermost parentheses first.</a:t>
            </a:r>
          </a:p>
          <a:p>
            <a:pPr>
              <a:buNone/>
            </a:pPr>
            <a:endParaRPr lang="en-US" dirty="0"/>
          </a:p>
          <a:p>
            <a:pPr algn="ctr">
              <a:buNone/>
            </a:pPr>
            <a:r>
              <a:rPr lang="en-US" sz="3800" dirty="0"/>
              <a:t>   7 x [4-(3x6)]</a:t>
            </a:r>
          </a:p>
        </p:txBody>
      </p:sp>
    </p:spTree>
    <p:extLst>
      <p:ext uri="{BB962C8B-B14F-4D97-AF65-F5344CB8AC3E}">
        <p14:creationId xmlns:p14="http://schemas.microsoft.com/office/powerpoint/2010/main" val="27893031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PEMDAS cont.…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0037"/>
            <a:ext cx="8229600" cy="4525963"/>
          </a:xfrm>
        </p:spPr>
        <p:txBody>
          <a:bodyPr/>
          <a:lstStyle/>
          <a:p>
            <a:r>
              <a:rPr lang="en-US" dirty="0"/>
              <a:t>Exponents</a:t>
            </a:r>
          </a:p>
          <a:p>
            <a:pPr>
              <a:buNone/>
            </a:pPr>
            <a:r>
              <a:rPr lang="en-US" dirty="0"/>
              <a:t>    4 + (9 x 3) + (6-4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48080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PEMDAS cont.…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parentheses and exponents have been taken care of, multiplication and division (from left to right) are next.</a:t>
            </a:r>
          </a:p>
          <a:p>
            <a:r>
              <a:rPr lang="en-US" dirty="0"/>
              <a:t>Addition and subtraction (from left to right) are performed last.</a:t>
            </a:r>
          </a:p>
          <a:p>
            <a:pPr lvl="1">
              <a:buNone/>
            </a:pPr>
            <a:r>
              <a:rPr lang="en-US" sz="3500" dirty="0"/>
              <a:t>   (-7+4</a:t>
            </a:r>
            <a:r>
              <a:rPr lang="en-US" sz="3500" baseline="30000" dirty="0"/>
              <a:t>2</a:t>
            </a:r>
            <a:r>
              <a:rPr lang="en-US" sz="3500" dirty="0"/>
              <a:t>) x 2 – [(3 x 6)/2]</a:t>
            </a:r>
          </a:p>
        </p:txBody>
      </p:sp>
    </p:spTree>
    <p:extLst>
      <p:ext uri="{BB962C8B-B14F-4D97-AF65-F5344CB8AC3E}">
        <p14:creationId xmlns:p14="http://schemas.microsoft.com/office/powerpoint/2010/main" val="14051982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9000" t="40889" r="30500" b="31555"/>
          <a:stretch>
            <a:fillRect/>
          </a:stretch>
        </p:blipFill>
        <p:spPr bwMode="auto">
          <a:xfrm>
            <a:off x="457200" y="914400"/>
            <a:ext cx="7620000" cy="2338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8561524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Summation Operator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/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 cstate="print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</p:spPr>
            <p:txBody>
              <a:bodyPr/>
              <a:lstStyle/>
              <a:p>
                <a:r>
                  <a:rPr lang="en-US" dirty="0"/>
                  <a:t>The summation operator is a useful shorthand for manipulating expressions involving the sum of many numbers. 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:</m:t>
                        </m:r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</a:rPr>
                          <m:t>=1,...,</m:t>
                        </m:r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denotes a sequence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numbers then we write the sum of these numbers as</a:t>
                </a: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  <a:blipFill rotWithShape="1">
                <a:blip r:embed="rId4" cstate="print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978516"/>
              </p:ext>
            </p:extLst>
          </p:nvPr>
        </p:nvGraphicFramePr>
        <p:xfrm>
          <a:off x="2095500" y="3390900"/>
          <a:ext cx="4953000" cy="150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400" imgH="431800" progId="Equation.3">
                  <p:embed/>
                </p:oleObj>
              </mc:Choice>
              <mc:Fallback>
                <p:oleObj name="Equation" r:id="rId5" imgW="1422400" imgH="4318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3390900"/>
                        <a:ext cx="4953000" cy="150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9000" t="29333" r="61000" b="54233"/>
          <a:stretch/>
        </p:blipFill>
        <p:spPr bwMode="auto">
          <a:xfrm>
            <a:off x="381000" y="411480"/>
            <a:ext cx="7968343" cy="245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3012" name="Content Placeholder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9860965"/>
              </p:ext>
            </p:extLst>
          </p:nvPr>
        </p:nvGraphicFramePr>
        <p:xfrm>
          <a:off x="533400" y="3200400"/>
          <a:ext cx="2149475" cy="297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3800" imgH="1651000" progId="Equation.3">
                  <p:embed/>
                </p:oleObj>
              </mc:Choice>
              <mc:Fallback>
                <p:oleObj name="Equation" r:id="rId3" imgW="1193800" imgH="1651000" progId="Equation.3">
                  <p:embed/>
                  <p:pic>
                    <p:nvPicPr>
                      <p:cNvPr id="43012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200400"/>
                        <a:ext cx="2149475" cy="297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600200" y="3276600"/>
            <a:ext cx="3048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28800" y="3810000"/>
            <a:ext cx="533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76400" y="4267200"/>
            <a:ext cx="5334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52600" y="4724400"/>
            <a:ext cx="3048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057400" y="5181600"/>
            <a:ext cx="304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209800" y="5791200"/>
            <a:ext cx="457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9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US" dirty="0"/>
              <a:t>Exercises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21028"/>
              </p:ext>
            </p:extLst>
          </p:nvPr>
        </p:nvGraphicFramePr>
        <p:xfrm>
          <a:off x="762001" y="609600"/>
          <a:ext cx="3668110" cy="5909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800" imgH="2946240" progId="Equation.3">
                  <p:embed/>
                </p:oleObj>
              </mc:Choice>
              <mc:Fallback>
                <p:oleObj name="Equation" r:id="rId3" imgW="1828800" imgH="294624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1" y="609600"/>
                        <a:ext cx="3668110" cy="59097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337265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Exercises (Answers)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838200"/>
            <a:ext cx="73914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US" sz="3200" dirty="0"/>
              <a:t>-216</a:t>
            </a:r>
          </a:p>
          <a:p>
            <a:pPr marL="342900" indent="-342900">
              <a:buAutoNum type="alphaLcPeriod"/>
            </a:pPr>
            <a:r>
              <a:rPr lang="en-US" sz="3200" dirty="0"/>
              <a:t>100</a:t>
            </a:r>
          </a:p>
          <a:p>
            <a:pPr marL="342900" indent="-342900">
              <a:buAutoNum type="alphaLcPeriod"/>
            </a:pPr>
            <a:r>
              <a:rPr lang="en-US" sz="3200" dirty="0"/>
              <a:t>100</a:t>
            </a:r>
          </a:p>
          <a:p>
            <a:pPr marL="342900" indent="-342900">
              <a:buAutoNum type="alphaLcPeriod"/>
            </a:pPr>
            <a:r>
              <a:rPr lang="en-US" sz="3200"/>
              <a:t>3</a:t>
            </a:r>
            <a:endParaRPr lang="en-US" sz="3200" dirty="0"/>
          </a:p>
          <a:p>
            <a:pPr marL="342900" indent="-342900">
              <a:buAutoNum type="alphaLcPeriod"/>
            </a:pPr>
            <a:r>
              <a:rPr lang="en-US" sz="3200" dirty="0"/>
              <a:t>9</a:t>
            </a:r>
          </a:p>
          <a:p>
            <a:pPr marL="342900" indent="-342900">
              <a:buAutoNum type="alphaLcPeriod"/>
            </a:pPr>
            <a:r>
              <a:rPr lang="en-US" sz="3200" dirty="0"/>
              <a:t>7</a:t>
            </a:r>
          </a:p>
          <a:p>
            <a:pPr marL="342900" indent="-342900">
              <a:buAutoNum type="alphaLcPeriod"/>
            </a:pPr>
            <a:r>
              <a:rPr lang="en-US" sz="3200" dirty="0"/>
              <a:t>6</a:t>
            </a:r>
          </a:p>
          <a:p>
            <a:pPr marL="342900" indent="-342900">
              <a:buAutoNum type="alphaLcPeriod"/>
            </a:pPr>
            <a:r>
              <a:rPr lang="en-US" sz="3200" dirty="0"/>
              <a:t>5</a:t>
            </a:r>
          </a:p>
          <a:p>
            <a:pPr marL="342900" indent="-342900">
              <a:buAutoNum type="alphaLcPeriod"/>
            </a:pPr>
            <a:r>
              <a:rPr lang="en-US" sz="3200" dirty="0"/>
              <a:t>30</a:t>
            </a:r>
          </a:p>
          <a:p>
            <a:pPr marL="342900" indent="-342900">
              <a:buAutoNum type="alphaLcPeriod"/>
            </a:pPr>
            <a:r>
              <a:rPr lang="en-US" sz="3200" dirty="0"/>
              <a:t>17</a:t>
            </a:r>
          </a:p>
          <a:p>
            <a:pPr marL="342900" indent="-342900">
              <a:buAutoNum type="alphaLcPeriod"/>
            </a:pPr>
            <a:r>
              <a:rPr lang="en-US" sz="3200" dirty="0"/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2603372653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1750</TotalTime>
  <Words>649</Words>
  <Application>Microsoft Macintosh PowerPoint</Application>
  <PresentationFormat>On-screen Show (4:3)</PresentationFormat>
  <Paragraphs>122</Paragraphs>
  <Slides>21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</vt:lpstr>
      <vt:lpstr>Cambria Math</vt:lpstr>
      <vt:lpstr>Wingdings</vt:lpstr>
      <vt:lpstr>Adjacency</vt:lpstr>
      <vt:lpstr>Equation</vt:lpstr>
      <vt:lpstr>Welcome to Statistics in Education!</vt:lpstr>
      <vt:lpstr>Outline</vt:lpstr>
      <vt:lpstr>Math Review</vt:lpstr>
      <vt:lpstr>Notation</vt:lpstr>
      <vt:lpstr>Rounding</vt:lpstr>
      <vt:lpstr>Proportions and Percentages</vt:lpstr>
      <vt:lpstr>Proportions and Percentages</vt:lpstr>
      <vt:lpstr>Signed Numbers</vt:lpstr>
      <vt:lpstr>PowerPoint Presentation</vt:lpstr>
      <vt:lpstr>Law of  Signs</vt:lpstr>
      <vt:lpstr>PowerPoint Presentation</vt:lpstr>
      <vt:lpstr>PowerPoint Presentation</vt:lpstr>
      <vt:lpstr>Order of Operations</vt:lpstr>
      <vt:lpstr>Examples (PEMDAS)</vt:lpstr>
      <vt:lpstr>PEMDAS cont.…</vt:lpstr>
      <vt:lpstr>PEMDAS cont.…</vt:lpstr>
      <vt:lpstr>PowerPoint Presentation</vt:lpstr>
      <vt:lpstr>Summation Operator ∑</vt:lpstr>
      <vt:lpstr>PowerPoint Presentation</vt:lpstr>
      <vt:lpstr>Exercises</vt:lpstr>
      <vt:lpstr>Exercises (Answers)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rhamno</dc:creator>
  <cp:lastModifiedBy>程聖倫</cp:lastModifiedBy>
  <cp:revision>222</cp:revision>
  <dcterms:created xsi:type="dcterms:W3CDTF">2012-08-27T02:50:55Z</dcterms:created>
  <dcterms:modified xsi:type="dcterms:W3CDTF">2025-02-23T02:20:15Z</dcterms:modified>
</cp:coreProperties>
</file>